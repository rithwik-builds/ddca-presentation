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thwik-Builds/DDCA-Presentation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0" y="914400"/>
            <a:ext cx="2514600" cy="4983480"/>
          </a:xfrm>
          <a:prstGeom prst="roundRect">
            <a:avLst/>
          </a:prstGeom>
          <a:solidFill>
            <a:srgbClr val="182B48"/>
          </a:solidFill>
          <a:ln w="317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49640" y="1234440"/>
            <a:ext cx="1874519" cy="4297680"/>
          </a:xfrm>
          <a:prstGeom prst="roundRect">
            <a:avLst/>
          </a:prstGeom>
          <a:solidFill>
            <a:srgbClr val="08101F"/>
          </a:solidFill>
          <a:ln>
            <a:solidFill>
              <a:srgbClr val="3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87968" y="1828800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299448" y="1828800"/>
            <a:ext cx="228600" cy="22860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10928" y="18288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87968" y="2286000"/>
            <a:ext cx="228600" cy="22860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299448" y="22860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710928" y="2286000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887968" y="27432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299448" y="2743200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10928" y="2743200"/>
            <a:ext cx="228600" cy="22860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  <a:endParaRPr/>
          </a:p>
        </p:txBody>
      </p:sp>
      <p:sp>
        <p:nvSpPr>
          <p:cNvPr id="14" name="Arc 13"/>
          <p:cNvSpPr/>
          <p:nvPr/>
        </p:nvSpPr>
        <p:spPr>
          <a:xfrm>
            <a:off x="9098280" y="3520440"/>
            <a:ext cx="777240" cy="731520"/>
          </a:xfrm>
          <a:prstGeom prst="arc">
            <a:avLst/>
          </a:prstGeom>
          <a:noFill/>
          <a:ln w="508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006840" y="3886200"/>
            <a:ext cx="960120" cy="77724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09176" y="4096512"/>
            <a:ext cx="146304" cy="146304"/>
          </a:xfrm>
          <a:prstGeom prst="ellipse">
            <a:avLst/>
          </a:prstGeom>
          <a:solidFill>
            <a:srgbClr val="0F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1051560"/>
            <a:ext cx="70408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DIGITAL DESIGN &amp; COMPUTER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691640"/>
            <a:ext cx="6995160" cy="1508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rPr dirty="0"/>
              <a:t>DESIGN AND </a:t>
            </a:r>
            <a:r>
              <a:rPr lang="en-IN" dirty="0"/>
              <a:t>SIMULATION</a:t>
            </a:r>
            <a:r>
              <a:rPr dirty="0"/>
              <a:t> OF A DIGITAL DOOR LOCK SYSTEM USING LOGIC 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474720"/>
            <a:ext cx="667512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67E8F9"/>
                </a:solidFill>
                <a:latin typeface="Aptos"/>
              </a:defRPr>
            </a:pPr>
            <a:r>
              <a:t>A simple password-matching circuit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7640"/>
            <a:ext cx="6583680" cy="24963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r>
              <a:rPr dirty="0"/>
              <a:t>Team Members &amp; Roll Numbers: </a:t>
            </a:r>
            <a:r>
              <a:rPr lang="en-IN" dirty="0"/>
              <a:t>               </a:t>
            </a:r>
            <a:r>
              <a:rPr lang="en-US" dirty="0" err="1"/>
              <a:t>K.Rithwik</a:t>
            </a:r>
            <a:r>
              <a:rPr lang="en-US" dirty="0"/>
              <a:t>  (2620040124)</a:t>
            </a:r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r>
              <a:rPr lang="en-US" dirty="0"/>
              <a:t>                                                                    </a:t>
            </a:r>
            <a:r>
              <a:rPr lang="en-US" dirty="0" err="1"/>
              <a:t>G.Veerendranath</a:t>
            </a:r>
            <a:r>
              <a:rPr lang="en-US" dirty="0"/>
              <a:t> Reddy (2620030373)</a:t>
            </a:r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r>
              <a:rPr lang="en-US" dirty="0"/>
              <a:t>                                                                    Deepak </a:t>
            </a:r>
            <a:r>
              <a:rPr lang="en-US" dirty="0" err="1"/>
              <a:t>surya</a:t>
            </a:r>
            <a:r>
              <a:rPr lang="en-US" dirty="0"/>
              <a:t> (2620090129)</a:t>
            </a:r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r>
              <a:rPr lang="en-US" dirty="0"/>
              <a:t>                                                                    Likith Chandra (2620040104)  </a:t>
            </a:r>
            <a:endParaRPr dirty="0"/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endParaRPr lang="en-US" dirty="0"/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endParaRPr lang="en-US" dirty="0"/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endParaRPr lang="en-US" dirty="0"/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r>
              <a:rPr dirty="0"/>
              <a:t>Guide: Dr. Venkanna </a:t>
            </a:r>
            <a:r>
              <a:rPr dirty="0" err="1"/>
              <a:t>Isampalli</a:t>
            </a:r>
            <a:endParaRPr dirty="0"/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r>
              <a:rPr dirty="0"/>
              <a:t>Department of Freshman Engineering | Academic Year 2026–27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Turning a correct digital code into an unlock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20640" cy="182880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90472"/>
            <a:ext cx="64008" cy="16824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2DD4BF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0824"/>
            <a:ext cx="4736592" cy="11155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A digital door lock checks a binary password entered by the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120640" cy="182880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490472"/>
            <a:ext cx="64008" cy="168249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581912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A78BFA"/>
                </a:solidFill>
                <a:latin typeface="Aptos"/>
              </a:defRPr>
            </a:pPr>
            <a:r>
              <a:t>Logic-gate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020824"/>
            <a:ext cx="4736592" cy="11155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NOT and AND gates compare the entered bits with a preset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10561320" cy="155448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685032"/>
            <a:ext cx="64008" cy="14081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76472"/>
            <a:ext cx="1019556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4ADE80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215384"/>
            <a:ext cx="10177272" cy="84124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Correct code → UNLOCK indicator ON</a:t>
            </a:r>
          </a:p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Incorrect code → LOCK indicator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1042416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300" b="0">
                <a:solidFill>
                  <a:srgbClr val="FBBF24"/>
                </a:solidFill>
                <a:latin typeface="Aptos"/>
              </a:defRPr>
            </a:pPr>
            <a:r>
              <a:t>This is an educational logic-circuit prototype, not a certified security lock.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Project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44168"/>
            <a:ext cx="347472" cy="3474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39595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325880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Design a basic digital door lock using logic gates.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148840"/>
            <a:ext cx="347472" cy="3474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44268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30552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Represent the password as a 4-bit binary code.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53512"/>
            <a:ext cx="347472" cy="3474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948940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935224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Build a Boolean expression that detects the correct code.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58183"/>
            <a:ext cx="347472" cy="3474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753611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739896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Test the circuit for correct and incorrect inputs.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562855"/>
            <a:ext cx="347472" cy="3474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558283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544568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Connect the project to digital design concepts in the course handout.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 Display"/>
              </a:defRPr>
            </a:pPr>
            <a:r>
              <a:t>COURSE OUTCOMES (COs)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ECBDC"/>
                </a:solidFill>
                <a:latin typeface="Aptos"/>
              </a:defRPr>
            </a:pPr>
            <a:r>
              <a:t>Mapped to the six official outcomes in the course handout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98448"/>
            <a:ext cx="5440680" cy="1481328"/>
          </a:xfrm>
          <a:prstGeom prst="roundRect">
            <a:avLst/>
          </a:prstGeom>
          <a:solidFill>
            <a:srgbClr val="192B46"/>
          </a:solidFill>
          <a:ln w="19050">
            <a:solidFill>
              <a:srgbClr val="26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417319"/>
            <a:ext cx="749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6CDBE"/>
                </a:solidFill>
                <a:latin typeface="Aptos Display"/>
              </a:defRPr>
            </a:pPr>
            <a:r>
              <a:t>CO1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08176"/>
            <a:ext cx="4343400" cy="1280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Understand the basic organization of a computer system and represent digital information using binary number systems and logic gates as the foundation of digital computing.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1298448"/>
            <a:ext cx="5440680" cy="1481328"/>
          </a:xfrm>
          <a:prstGeom prst="roundRect">
            <a:avLst/>
          </a:prstGeom>
          <a:solidFill>
            <a:srgbClr val="192B46"/>
          </a:solidFill>
          <a:ln w="19050">
            <a:solidFill>
              <a:srgbClr val="84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79" y="1417319"/>
            <a:ext cx="749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474FF"/>
                </a:solidFill>
                <a:latin typeface="Aptos Display"/>
              </a:defRPr>
            </a:pPr>
            <a:r>
              <a:t>CO2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3175" y="1408176"/>
            <a:ext cx="4343400" cy="1280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Design and simulate combinational logic and build a simple Arithmetic Logic Unit (ALU) — the part of the processor that computes.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962656"/>
            <a:ext cx="5440680" cy="1481328"/>
          </a:xfrm>
          <a:prstGeom prst="roundRect">
            <a:avLst/>
          </a:prstGeom>
          <a:solidFill>
            <a:srgbClr val="192B46"/>
          </a:solidFill>
          <a:ln w="19050">
            <a:solidFill>
              <a:srgbClr val="FFB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3081528"/>
            <a:ext cx="749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B455"/>
                </a:solidFill>
                <a:latin typeface="Aptos Display"/>
              </a:defRPr>
            </a:pPr>
            <a:r>
              <a:t>CO3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72384"/>
            <a:ext cx="4343400" cy="1280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Design, analyze, and integrate sequential logic circuits including flip-flops, registers, shift registers, counters, program counter, and finite state machines for synchronous digital systems and RISC-V processor applications.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962656"/>
            <a:ext cx="5440680" cy="1481328"/>
          </a:xfrm>
          <a:prstGeom prst="roundRect">
            <a:avLst/>
          </a:prstGeom>
          <a:solidFill>
            <a:srgbClr val="192B46"/>
          </a:solidFill>
          <a:ln w="19050"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79" y="3081528"/>
            <a:ext cx="749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0AAFF"/>
                </a:solidFill>
                <a:latin typeface="Aptos Display"/>
              </a:defRPr>
            </a:pPr>
            <a:r>
              <a:t>CO4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3175" y="3072384"/>
            <a:ext cx="4343400" cy="1280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Design and implement the register file and memory subsystem of a processor, and explain the role of memory hierarchy in computer systems.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626864"/>
            <a:ext cx="5440680" cy="1481328"/>
          </a:xfrm>
          <a:prstGeom prst="roundRect">
            <a:avLst/>
          </a:prstGeom>
          <a:solidFill>
            <a:srgbClr val="192B46"/>
          </a:solidFill>
          <a:ln w="19050">
            <a:solidFill>
              <a:srgbClr val="F5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745736"/>
            <a:ext cx="749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70A0"/>
                </a:solidFill>
                <a:latin typeface="Aptos Display"/>
              </a:defRPr>
            </a:pPr>
            <a:r>
              <a:t>CO5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36592"/>
            <a:ext cx="4343400" cy="1280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Analyze the execution of RISC-V instructions, develop simple RISC-V assembly programs, and integrate the data path and control unit to implement a functional single-cycle processor.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4626864"/>
            <a:ext cx="5440680" cy="1481328"/>
          </a:xfrm>
          <a:prstGeom prst="roundRect">
            <a:avLst/>
          </a:prstGeom>
          <a:solidFill>
            <a:srgbClr val="192B46"/>
          </a:solidFill>
          <a:ln w="19050">
            <a:solidFill>
              <a:srgbClr val="87D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79" y="4745736"/>
            <a:ext cx="749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7D282"/>
                </a:solidFill>
                <a:latin typeface="Aptos Display"/>
              </a:defRPr>
            </a:pPr>
            <a:r>
              <a:t>CO6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5" y="4736592"/>
            <a:ext cx="4343400" cy="1280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Enhance a single-cycle RISC-V processor by designing and implementing architectural extensions and peripheral interfaces using Project-Based Learning.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BECBDC"/>
                </a:solidFill>
                <a:latin typeface="Aptos"/>
              </a:defRPr>
            </a:pPr>
            <a:r>
              <a:t>Project focus: CO1 (digital foundations) and CO2 (combinational logic design). CO3–CO6 are included as the full course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Components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Suggested parts for a simple demonstrator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166360" cy="429768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99032"/>
            <a:ext cx="64008" cy="41513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490472"/>
            <a:ext cx="480060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2DD4BF"/>
                </a:solidFill>
                <a:latin typeface="Aptos"/>
              </a:defRPr>
            </a:pPr>
            <a:r>
              <a:t>Logic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29384"/>
            <a:ext cx="4782312" cy="35844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5 V DC supply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NOT gate (e.g., 7404)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AND gates (e.g., 7408)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4 input switches for A, B, C, D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LEDs for LOCK and UNLOCK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Current-limiting resistors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166360" cy="429768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99032"/>
            <a:ext cx="64008" cy="41513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490472"/>
            <a:ext cx="480060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A78BFA"/>
                </a:solidFill>
                <a:latin typeface="Aptos"/>
              </a:defRPr>
            </a:pPr>
            <a:r>
              <a:t>Build and test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29384"/>
            <a:ext cx="4782312" cy="35844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Breadboard and jumper wires</a:t>
            </a:r>
          </a:p>
          <a:p>
            <a:pPr algn="l">
              <a:spcAft>
                <a:spcPts val="9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Logic simulator: Logisim Evolution or Digital</a:t>
            </a:r>
          </a:p>
          <a:p>
            <a:pPr algn="l">
              <a:spcAft>
                <a:spcPts val="9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Optional: transistor/driver stage for a physical lock actuator</a:t>
            </a:r>
          </a:p>
          <a:p>
            <a:pPr algn="l">
              <a:spcAft>
                <a:spcPts val="9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Do not connect a door strike directly to logic IC outputs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15 at 09.10.2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24" y="201168"/>
            <a:ext cx="8607552" cy="64556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Circuit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Password match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44168"/>
            <a:ext cx="347472" cy="34747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39595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325880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The user enters four binary bits using switches A, B, C and D.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148840"/>
            <a:ext cx="347472" cy="34747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44268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30552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The preset password for this design is 1010.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53512"/>
            <a:ext cx="347472" cy="34747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948940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935224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NOT gates produce B̅ and D̅, needed because those password bits are 0.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58183"/>
            <a:ext cx="347472" cy="34747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753611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739896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An AND gate combines A, B̅, C and D̅ to detect the exact code.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562855"/>
            <a:ext cx="347472" cy="34747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558283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544568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When the expression is 1, UNLOCK turns ON; otherwise, LOCK remains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Truth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Preset code = 1010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45352"/>
            <a:ext cx="105156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>
              <a:spcAft>
                <a:spcPts val="900"/>
              </a:spcAft>
              <a:defRPr sz="1300" b="1">
                <a:solidFill>
                  <a:srgbClr val="BECCDE"/>
                </a:solidFill>
                <a:latin typeface="Aptos"/>
              </a:defRPr>
            </a:pPr>
            <a:r>
              <a:rPr sz="1000"/>
              <a:t>1 = ON / HIGH     |     0 = OFF / LOW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98448"/>
          <a:ext cx="10744200" cy="4896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643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27432" marR="27432" marT="9144" marB="9144" anchor="ctr">
                    <a:solidFill>
                      <a:srgbClr val="28D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643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L="27432" marR="27432" marT="9144" marB="9144" anchor="ctr">
                    <a:solidFill>
                      <a:srgbClr val="28D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643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27432" marR="27432" marT="9144" marB="9144" anchor="ctr">
                    <a:solidFill>
                      <a:srgbClr val="28D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643"/>
                          </a:solidFill>
                          <a:latin typeface="Aptos"/>
                        </a:rPr>
                        <a:t>D</a:t>
                      </a:r>
                    </a:p>
                  </a:txBody>
                  <a:tcPr marL="27432" marR="27432" marT="9144" marB="9144" anchor="ctr">
                    <a:solidFill>
                      <a:srgbClr val="28D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643"/>
                          </a:solidFill>
                          <a:latin typeface="Aptos"/>
                        </a:rPr>
                        <a:t>UNLOCK</a:t>
                      </a:r>
                    </a:p>
                  </a:txBody>
                  <a:tcPr marL="27432" marR="27432" marT="9144" marB="9144" anchor="ctr">
                    <a:solidFill>
                      <a:srgbClr val="28D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643"/>
                          </a:solidFill>
                          <a:latin typeface="Aptos"/>
                        </a:rPr>
                        <a:t>LOCK</a:t>
                      </a:r>
                    </a:p>
                  </a:txBody>
                  <a:tcPr marL="27432" marR="27432" marT="9144" marB="9144" anchor="ctr">
                    <a:solidFill>
                      <a:srgbClr val="28DC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Logic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Boolean expression for the preset code 1010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20640" cy="150876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90472"/>
            <a:ext cx="64008" cy="136245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2DD4BF"/>
                </a:solidFill>
                <a:latin typeface="Aptos"/>
              </a:defRPr>
            </a:pPr>
            <a:r>
              <a:t>Required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0824"/>
            <a:ext cx="4736592" cy="79552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A = 1, B = 0, C = 1, D 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120640" cy="150876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490472"/>
            <a:ext cx="64008" cy="136245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581912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A78BFA"/>
                </a:solidFill>
                <a:latin typeface="Aptos"/>
              </a:defRPr>
            </a:pPr>
            <a:r>
              <a:t>Boolean expression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020824"/>
            <a:ext cx="4736592" cy="79552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UNLOCK = A · B̅ · C · D̅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5120640" cy="150876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410712"/>
            <a:ext cx="64008" cy="1362456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502152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67E8F9"/>
                </a:solidFill>
                <a:latin typeface="Aptos"/>
              </a:defRPr>
            </a:pPr>
            <a:r>
              <a:t>Complemented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941063"/>
            <a:ext cx="4736592" cy="79552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B̅ = NOT B     and     D̅ = NOT 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7560"/>
            <a:ext cx="5120640" cy="150876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410712"/>
            <a:ext cx="64008" cy="136245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3502152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FBBF24"/>
                </a:solidFill>
                <a:latin typeface="Aptos"/>
              </a:defRPr>
            </a:pPr>
            <a:r>
              <a:t>Lock indicator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941063"/>
            <a:ext cx="4736592" cy="79552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LOCK = NOT(UNLOCK)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>
              <a:spcAft>
                <a:spcPts val="900"/>
              </a:spcAft>
              <a:defRPr sz="1700" b="0">
                <a:solidFill>
                  <a:srgbClr val="BECCDE"/>
                </a:solidFill>
                <a:latin typeface="Aptos"/>
              </a:defRPr>
            </a:pPr>
            <a:r>
              <a:t>The AND output becomes HIGH only when all four required conditions are true.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Why this design is useful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44168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39595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325880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Simple and inexpensive logic-circuit demonstration.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148840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44268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30552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No software programming is required for the basic circuit.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53512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948940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935224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Clearly demonstrates binary inputs, Boolean expressions and gates.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58183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753611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739896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Easy to simulate and test using different code combinations.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562855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558283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544568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Can be expanded into a larger digital access-control project.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Important design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44168"/>
            <a:ext cx="347472" cy="3474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39595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325880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A 4-bit code has only 16 possible combinations and is not secure for real use.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148840"/>
            <a:ext cx="347472" cy="3474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44268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30552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The basic circuit does not store failed attempts or limit repeated guesses.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53512"/>
            <a:ext cx="347472" cy="3474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948940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935224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Power loss and switch glitches may affect a physical prototype.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58183"/>
            <a:ext cx="347472" cy="3474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753611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739896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Logic-gate outputs cannot directly drive a high-current door lock actuator.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562855"/>
            <a:ext cx="347472" cy="3474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558283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544568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A practical product needs secure code storage, enclosure, and safety testing.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Applications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Possible extensions beyond the basic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66360" cy="338328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44752"/>
            <a:ext cx="64008" cy="32369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80060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2DD4B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4782312" cy="2670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• Digital logic laboratory demonstration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• Basic access-control prototype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• Learning project for Boolean logic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• Entry-level embedded hardware concept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166360" cy="338328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44752"/>
            <a:ext cx="64008" cy="32369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536192"/>
            <a:ext cx="480060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A78BFA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75104"/>
            <a:ext cx="4782312" cy="2670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Increase password length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Add a keypad interface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Add a flip-flop/latch for state holding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Add attempt counter and alarm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Use a protected driver circuit for an actuator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33272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500" b="0">
                <a:solidFill>
                  <a:srgbClr val="BECCDE"/>
                </a:solidFill>
                <a:latin typeface="Aptos"/>
              </a:defRPr>
            </a:pPr>
            <a:r>
              <a:t>Advanced features would introduce sequential logic (Module 3) and additional control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A small practical example of digital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561320" cy="132588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36192"/>
            <a:ext cx="64008" cy="1179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1019556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2DD4BF"/>
                </a:solidFill>
                <a:latin typeface="Aptos"/>
              </a:defRPr>
            </a:pPr>
            <a:r>
              <a:t>What was designed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66544"/>
            <a:ext cx="10177272" cy="61264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A logic circuit that recognizes the preset binary password 1010.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0561320" cy="132588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227832"/>
            <a:ext cx="64008" cy="1179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319272"/>
            <a:ext cx="1019556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A78BFA"/>
                </a:solidFill>
                <a:latin typeface="Aptos"/>
              </a:defRPr>
            </a:pPr>
            <a:r>
              <a:t>What it demonstrates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758184"/>
            <a:ext cx="10177272" cy="61264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NOT and AND gates, Boolean expressions, truth tables, and combinational circuit testing.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14984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>
              <a:spcAft>
                <a:spcPts val="900"/>
              </a:spcAft>
              <a:defRPr sz="1700" b="1">
                <a:solidFill>
                  <a:srgbClr val="67E8F9"/>
                </a:solidFill>
                <a:latin typeface="Aptos"/>
              </a:defRPr>
            </a:pPr>
            <a:r>
              <a:t>The project connects Module 1 digital foundations with Module 2 combinational logic design.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Project Files / GitHub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Add your repository URL after uploading your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561320" cy="1874519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90472"/>
            <a:ext cx="64008" cy="17282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1019556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2DD4BF"/>
                </a:solidFill>
                <a:latin typeface="Aptos"/>
              </a:defRPr>
            </a:pPr>
            <a:r>
              <a:t>Repository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0824"/>
            <a:ext cx="10177272" cy="116128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rPr lang="en-IN" dirty="0">
                <a:hlinkClick r:id="rId2"/>
              </a:rPr>
              <a:t>https://github.com/Rithwik-Builds/DDCA-Presentation</a:t>
            </a:r>
            <a:endParaRPr lang="en-IN" dirty="0"/>
          </a:p>
          <a:p>
            <a:pPr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120640" cy="164592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730752"/>
            <a:ext cx="64008" cy="149961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822191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A78BFA"/>
                </a:solidFill>
                <a:latin typeface="Aptos"/>
              </a:defRPr>
            </a:pPr>
            <a:r>
              <a:t>Suggested contents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61104"/>
            <a:ext cx="4736592" cy="9326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PPT, circuit diagram, simulation file, truth table, project report.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657600"/>
            <a:ext cx="5120640" cy="164592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3730752"/>
            <a:ext cx="64008" cy="1499616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3822191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67E8F9"/>
                </a:solidFill>
                <a:latin typeface="Aptos"/>
              </a:defRPr>
            </a:pPr>
            <a:r>
              <a:t>README should include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4261104"/>
            <a:ext cx="4736592" cy="9326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Project aim, logic expression, how to simulate, test cases, team contributions.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40680" y="1005840"/>
            <a:ext cx="1325880" cy="1143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5669280" y="411480"/>
            <a:ext cx="868680" cy="914400"/>
          </a:xfrm>
          <a:prstGeom prst="arc">
            <a:avLst/>
          </a:prstGeom>
          <a:noFill/>
          <a:ln w="6350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007608" y="1344168"/>
            <a:ext cx="182880" cy="182880"/>
          </a:xfrm>
          <a:prstGeom prst="ellipse">
            <a:avLst/>
          </a:prstGeom>
          <a:solidFill>
            <a:srgbClr val="0F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>
              <a:spcAft>
                <a:spcPts val="900"/>
              </a:spcAft>
              <a:defRPr sz="3400" b="1">
                <a:solidFill>
                  <a:srgbClr val="F5F8F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>
              <a:spcAft>
                <a:spcPts val="900"/>
              </a:spcAft>
              <a:defRPr sz="2000" b="0">
                <a:solidFill>
                  <a:srgbClr val="2DD4B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3272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>
              <a:spcAft>
                <a:spcPts val="900"/>
              </a:spcAft>
              <a:defRPr sz="1100" b="1">
                <a:solidFill>
                  <a:srgbClr val="BECCDE"/>
                </a:solidFill>
                <a:latin typeface="Aptos"/>
              </a:defRPr>
            </a:pPr>
            <a:r>
              <a:t>DIGITAL DOOR LOCK SYSTEM USING LOGIC GATES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1120</Words>
  <Application>Microsoft Office PowerPoint</Application>
  <PresentationFormat>Widescreen</PresentationFormat>
  <Paragraphs>259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Rithwik K</cp:lastModifiedBy>
  <cp:revision>4</cp:revision>
  <dcterms:created xsi:type="dcterms:W3CDTF">2013-01-27T09:14:00Z</dcterms:created>
  <dcterms:modified xsi:type="dcterms:W3CDTF">2026-10-15T04:02:58Z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A8DBA1951D3648CC8FBDBFBCC6E5F3C2_12</vt:lpwstr>
  </property>
  <property fmtid="{D5CDD505-2E9C-101B-9397-08002B2CF9AE}" pid="3" name="KSOProductBuildVer">
    <vt:lpwstr>1033-12.1.0.29162</vt:lpwstr>
  </property>
</Properties>
</file>