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0" y="914400"/>
            <a:ext cx="2514600" cy="4983480"/>
          </a:xfrm>
          <a:prstGeom prst="roundRect">
            <a:avLst/>
          </a:prstGeom>
          <a:solidFill>
            <a:srgbClr val="182B48"/>
          </a:solidFill>
          <a:ln w="317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49640" y="1234440"/>
            <a:ext cx="1874519" cy="4297680"/>
          </a:xfrm>
          <a:prstGeom prst="roundRect">
            <a:avLst/>
          </a:prstGeom>
          <a:solidFill>
            <a:srgbClr val="08101F"/>
          </a:solidFill>
          <a:ln>
            <a:solidFill>
              <a:srgbClr val="3852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87968" y="1828800"/>
            <a:ext cx="228600" cy="22860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99448" y="1828800"/>
            <a:ext cx="228600" cy="228600"/>
          </a:xfrm>
          <a:prstGeom prst="ellipse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10928" y="1828800"/>
            <a:ext cx="228600" cy="2286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87968" y="2286000"/>
            <a:ext cx="228600" cy="228600"/>
          </a:xfrm>
          <a:prstGeom prst="ellipse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99448" y="2286000"/>
            <a:ext cx="228600" cy="2286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710928" y="2286000"/>
            <a:ext cx="228600" cy="22860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87968" y="2743200"/>
            <a:ext cx="228600" cy="2286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99448" y="2743200"/>
            <a:ext cx="228600" cy="22860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710928" y="2743200"/>
            <a:ext cx="228600" cy="228600"/>
          </a:xfrm>
          <a:prstGeom prst="ellipse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rc 13"/>
          <p:cNvSpPr/>
          <p:nvPr/>
        </p:nvSpPr>
        <p:spPr>
          <a:xfrm>
            <a:off x="9098280" y="3520440"/>
            <a:ext cx="777240" cy="731520"/>
          </a:xfrm>
          <a:prstGeom prst="arc">
            <a:avLst/>
          </a:prstGeom>
          <a:noFill/>
          <a:ln w="508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06840" y="3886200"/>
            <a:ext cx="960120" cy="777240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09176" y="4096512"/>
            <a:ext cx="146304" cy="146304"/>
          </a:xfrm>
          <a:prstGeom prst="ellipse">
            <a:avLst/>
          </a:prstGeom>
          <a:solidFill>
            <a:srgbClr val="0F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1051560"/>
            <a:ext cx="704088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200" b="1">
                <a:solidFill>
                  <a:srgbClr val="2DD4BF"/>
                </a:solidFill>
                <a:latin typeface="Aptos"/>
              </a:defRPr>
            </a:pPr>
            <a:r>
              <a:t>DIGITAL DESIGN &amp; COMPUTER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1691640"/>
            <a:ext cx="6995160" cy="15087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900" b="1">
                <a:solidFill>
                  <a:srgbClr val="F5F8FC"/>
                </a:solidFill>
                <a:latin typeface="Aptos"/>
              </a:defRPr>
            </a:pPr>
            <a:r>
              <a:t>DESIGN AND IMPLEMENTATION OF A DIGITAL DOOR LOCK SYSTEM USING LOGIC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474720"/>
            <a:ext cx="66751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67E8F9"/>
                </a:solidFill>
                <a:latin typeface="Aptos"/>
              </a:defRPr>
            </a:pPr>
            <a:r>
              <a:t>A simple password-matching circuit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983480"/>
            <a:ext cx="6583680" cy="10058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300" b="0">
                <a:solidFill>
                  <a:srgbClr val="BECCDE"/>
                </a:solidFill>
                <a:latin typeface="Aptos"/>
              </a:defRPr>
            </a:pPr>
            <a:r>
              <a:t>Team Members &amp; Roll Numbers: ____________________</a:t>
            </a:r>
          </a:p>
          <a:p>
            <a:pPr algn="l">
              <a:spcAft>
                <a:spcPts val="900"/>
              </a:spcAft>
              <a:defRPr sz="1300" b="0">
                <a:solidFill>
                  <a:srgbClr val="BECCDE"/>
                </a:solidFill>
                <a:latin typeface="Aptos"/>
              </a:defRPr>
            </a:pPr>
            <a:r>
              <a:t>Guide: Dr. Venkanna Isampalli</a:t>
            </a:r>
          </a:p>
          <a:p>
            <a:pPr algn="l">
              <a:spcAft>
                <a:spcPts val="900"/>
              </a:spcAft>
              <a:defRPr sz="1300" b="0">
                <a:solidFill>
                  <a:srgbClr val="BECCDE"/>
                </a:solidFill>
                <a:latin typeface="Aptos"/>
              </a:defRPr>
            </a:pPr>
            <a:r>
              <a:t>Department of Freshman Engineering | Academic Year 2026–27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Turning a correct digital code into an unlock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20640" cy="182880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90472"/>
            <a:ext cx="64008" cy="168249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81912"/>
            <a:ext cx="4754879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2DD4BF"/>
                </a:solidFill>
                <a:latin typeface="Aptos"/>
              </a:defRPr>
            </a:pPr>
            <a:r>
              <a:t>The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020824"/>
            <a:ext cx="4736592" cy="11155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0">
                <a:solidFill>
                  <a:srgbClr val="F5F8FC"/>
                </a:solidFill>
                <a:latin typeface="Aptos"/>
              </a:defRPr>
            </a:pPr>
            <a:r>
              <a:t>A digital door lock checks a binary password entered by the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17320"/>
            <a:ext cx="5120640" cy="182880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90472"/>
            <a:ext cx="64008" cy="168249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581912"/>
            <a:ext cx="4754879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A78BFA"/>
                </a:solidFill>
                <a:latin typeface="Aptos"/>
              </a:defRPr>
            </a:pPr>
            <a:r>
              <a:t>Logic-gate 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020824"/>
            <a:ext cx="4736592" cy="11155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0">
                <a:solidFill>
                  <a:srgbClr val="F5F8FC"/>
                </a:solidFill>
                <a:latin typeface="Aptos"/>
              </a:defRPr>
            </a:pPr>
            <a:r>
              <a:t>NOT and AND gates compare the entered bits with a preset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11880"/>
            <a:ext cx="10561320" cy="155448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685032"/>
            <a:ext cx="64008" cy="140817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776472"/>
            <a:ext cx="1019556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4ADE80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215384"/>
            <a:ext cx="10177272" cy="84124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Correct code → UNLOCK indicator ON</a:t>
            </a:r>
          </a:p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Incorrect code → LOCK indicator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23560"/>
            <a:ext cx="1042416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300" b="0">
                <a:solidFill>
                  <a:srgbClr val="FBBF24"/>
                </a:solidFill>
                <a:latin typeface="Aptos"/>
              </a:defRPr>
            </a:pPr>
            <a:r>
              <a:t>This is an educational logic-circuit prototype, not a certified security lock.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Project goals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44168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39595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325880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Design a basic digital door lock using logic gates.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14884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44268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130552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Represent the password as a 4-bit binary code.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53512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48940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2935224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Build a Boolean expression that detects the correct code.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758183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753611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3739896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Test the circuit for correct and incorrect inputs.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562855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58283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4544568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Connect the project to digital design concepts in the course handout.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Course Outcomes (COs)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Mapped to the official DDCA handout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66360" cy="342900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44752"/>
            <a:ext cx="64008" cy="328269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36192"/>
            <a:ext cx="480060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2DD4BF"/>
                </a:solidFill>
                <a:latin typeface="Aptos"/>
              </a:defRPr>
            </a:pPr>
            <a:r>
              <a:t>CO1 — Digital foundations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4782312" cy="27157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0">
                <a:solidFill>
                  <a:srgbClr val="F5F8FC"/>
                </a:solidFill>
                <a:latin typeface="Aptos"/>
              </a:defRPr>
            </a:pPr>
            <a:r>
              <a:t>Understand binary representation, Boolean algebra, and logic gates as the foundation of digital systems.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166360" cy="342900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44752"/>
            <a:ext cx="64008" cy="328269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536192"/>
            <a:ext cx="480060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A78BFA"/>
                </a:solidFill>
                <a:latin typeface="Aptos"/>
              </a:defRPr>
            </a:pPr>
            <a:r>
              <a:t>CO2 — Combinational logic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975104"/>
            <a:ext cx="4782312" cy="27157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0">
                <a:solidFill>
                  <a:srgbClr val="F5F8FC"/>
                </a:solidFill>
                <a:latin typeface="Aptos"/>
              </a:defRPr>
            </a:pPr>
            <a:r>
              <a:t>Design, simulate, and verify combinational logic circuits from a given specification.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66360"/>
            <a:ext cx="10332720" cy="6400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500" b="0">
                <a:solidFill>
                  <a:srgbClr val="BECCDE"/>
                </a:solidFill>
                <a:latin typeface="Aptos"/>
              </a:defRPr>
            </a:pPr>
            <a:r>
              <a:t>Relevant modules: Module 1 — Bits, Boolean logic and gates; Module 2 — Combinational logic and circuit design.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Components Required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Suggested parts for a simple demonstrator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166360" cy="429768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99032"/>
            <a:ext cx="64008" cy="41513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90472"/>
            <a:ext cx="480060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2DD4BF"/>
                </a:solidFill>
                <a:latin typeface="Aptos"/>
              </a:defRPr>
            </a:pPr>
            <a:r>
              <a:t>Logic components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29384"/>
            <a:ext cx="4782312" cy="35844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5 V DC supply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NOT gate (e.g., 7404)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AND gates (e.g., 7408)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4 input switches for A, B, C, D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LEDs for LOCK and UNLOCK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Current-limiting resistors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166360" cy="429768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99032"/>
            <a:ext cx="64008" cy="41513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490472"/>
            <a:ext cx="480060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A78BFA"/>
                </a:solidFill>
                <a:latin typeface="Aptos"/>
              </a:defRPr>
            </a:pPr>
            <a:r>
              <a:t>Build and test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929384"/>
            <a:ext cx="4782312" cy="35844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600" b="0">
                <a:solidFill>
                  <a:srgbClr val="F5F8FC"/>
                </a:solidFill>
                <a:latin typeface="Aptos"/>
              </a:defRPr>
            </a:pPr>
            <a:r>
              <a:t>• Breadboard and jumper wires</a:t>
            </a:r>
          </a:p>
          <a:p>
            <a:pPr algn="l">
              <a:spcAft>
                <a:spcPts val="900"/>
              </a:spcAft>
              <a:defRPr sz="1600" b="0">
                <a:solidFill>
                  <a:srgbClr val="F5F8FC"/>
                </a:solidFill>
                <a:latin typeface="Aptos"/>
              </a:defRPr>
            </a:pPr>
            <a:r>
              <a:t>• Logic simulator: Logisim Evolution or Digital</a:t>
            </a:r>
          </a:p>
          <a:p>
            <a:pPr algn="l">
              <a:spcAft>
                <a:spcPts val="900"/>
              </a:spcAft>
              <a:defRPr sz="1600" b="0">
                <a:solidFill>
                  <a:srgbClr val="F5F8FC"/>
                </a:solidFill>
                <a:latin typeface="Aptos"/>
              </a:defRPr>
            </a:pPr>
            <a:r>
              <a:t>• Optional: transistor/driver stage for a physical lock actuator</a:t>
            </a:r>
          </a:p>
          <a:p>
            <a:pPr algn="l">
              <a:spcAft>
                <a:spcPts val="900"/>
              </a:spcAft>
              <a:defRPr sz="1600" b="0">
                <a:solidFill>
                  <a:srgbClr val="F5F8FC"/>
                </a:solidFill>
                <a:latin typeface="Aptos"/>
              </a:defRPr>
            </a:pPr>
            <a:r>
              <a:t>• Do not connect a door strike directly to logic IC outputs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Block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From code entry to lock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645920" cy="1051560"/>
          </a:xfrm>
          <a:prstGeom prst="roundRect">
            <a:avLst/>
          </a:prstGeom>
          <a:solidFill>
            <a:srgbClr val="182B48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468880"/>
            <a:ext cx="1508760" cy="54864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spcAft>
                <a:spcPts val="900"/>
              </a:spcAft>
              <a:defRPr sz="1300" b="1">
                <a:solidFill>
                  <a:srgbClr val="F5F8FC"/>
                </a:solidFill>
                <a:latin typeface="Aptos"/>
              </a:defRPr>
            </a:pPr>
            <a:r>
              <a:t>4-BIT CODE\nINPUT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2240280"/>
            <a:ext cx="1645920" cy="1051560"/>
          </a:xfrm>
          <a:prstGeom prst="roundRect">
            <a:avLst/>
          </a:prstGeom>
          <a:solidFill>
            <a:srgbClr val="182B48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2468880"/>
            <a:ext cx="1508760" cy="54864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spcAft>
                <a:spcPts val="900"/>
              </a:spcAft>
              <a:defRPr sz="1300" b="1">
                <a:solidFill>
                  <a:srgbClr val="F5F8FC"/>
                </a:solidFill>
                <a:latin typeface="Aptos"/>
              </a:defRPr>
            </a:pPr>
            <a:r>
              <a:t>INVERTERS\n(NOT)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2240280"/>
            <a:ext cx="1645920" cy="1051560"/>
          </a:xfrm>
          <a:prstGeom prst="roundRect">
            <a:avLst/>
          </a:prstGeom>
          <a:solidFill>
            <a:srgbClr val="182B48"/>
          </a:solidFill>
          <a:ln w="25400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76672" y="2468880"/>
            <a:ext cx="1508760" cy="54864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spcAft>
                <a:spcPts val="900"/>
              </a:spcAft>
              <a:defRPr sz="1300" b="1">
                <a:solidFill>
                  <a:srgbClr val="F5F8FC"/>
                </a:solidFill>
                <a:latin typeface="Aptos"/>
              </a:defRPr>
            </a:pPr>
            <a:r>
              <a:t>MATCH LOGIC\n(AND)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2240280"/>
            <a:ext cx="1645920" cy="1051560"/>
          </a:xfrm>
          <a:prstGeom prst="roundRect">
            <a:avLst/>
          </a:prstGeom>
          <a:solidFill>
            <a:srgbClr val="182B48"/>
          </a:solidFill>
          <a:ln w="254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468880"/>
            <a:ext cx="1508760" cy="54864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spcAft>
                <a:spcPts val="900"/>
              </a:spcAft>
              <a:defRPr sz="1300" b="1">
                <a:solidFill>
                  <a:srgbClr val="F5F8FC"/>
                </a:solidFill>
                <a:latin typeface="Aptos"/>
              </a:defRPr>
            </a:pPr>
            <a:r>
              <a:t>OUTPUT\nINDICATORS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38360" y="2240280"/>
            <a:ext cx="1828800" cy="1051560"/>
          </a:xfrm>
          <a:prstGeom prst="roundRect">
            <a:avLst/>
          </a:prstGeom>
          <a:solidFill>
            <a:srgbClr val="182B48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11512" y="2468880"/>
            <a:ext cx="1645920" cy="54864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spcAft>
                <a:spcPts val="900"/>
              </a:spcAft>
              <a:defRPr sz="1300" b="1">
                <a:solidFill>
                  <a:srgbClr val="F5F8FC"/>
                </a:solidFill>
                <a:latin typeface="Aptos"/>
              </a:defRPr>
            </a:pPr>
            <a:r>
              <a:t>LOCK / UNLOCK\nSTATUS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86000" y="2761488"/>
            <a:ext cx="640080" cy="0"/>
          </a:xfrm>
          <a:prstGeom prst="line">
            <a:avLst/>
          </a:prstGeom>
          <a:ln w="3175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17720" y="2761488"/>
            <a:ext cx="640080" cy="0"/>
          </a:xfrm>
          <a:prstGeom prst="line">
            <a:avLst/>
          </a:prstGeom>
          <a:ln w="3175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49440" y="2761488"/>
            <a:ext cx="640080" cy="0"/>
          </a:xfrm>
          <a:prstGeom prst="line">
            <a:avLst/>
          </a:prstGeom>
          <a:ln w="3175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281160" y="2761488"/>
            <a:ext cx="429768" cy="0"/>
          </a:xfrm>
          <a:prstGeom prst="line">
            <a:avLst/>
          </a:prstGeom>
          <a:ln w="3175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4069080"/>
            <a:ext cx="10149840" cy="9144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900"/>
              </a:spcAft>
              <a:defRPr sz="1800" b="0">
                <a:solidFill>
                  <a:srgbClr val="BECCDE"/>
                </a:solidFill>
                <a:latin typeface="Aptos"/>
              </a:defRPr>
            </a:pPr>
            <a:r>
              <a:t>The input switches provide the code bits. NOT gates create complemented bits, and AND logic produces UNLOCK only when every bit matches.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Circuit Working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Password match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44168"/>
            <a:ext cx="347472" cy="347472"/>
          </a:xfrm>
          <a:prstGeom prst="ellipse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39595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325880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The user enters four binary bits using switches A, B, C and D.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148840"/>
            <a:ext cx="347472" cy="347472"/>
          </a:xfrm>
          <a:prstGeom prst="ellipse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44268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130552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The preset password for this design is 1010.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53512"/>
            <a:ext cx="347472" cy="347472"/>
          </a:xfrm>
          <a:prstGeom prst="ellipse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48940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2935224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NOT gates produce B̅ and D̅, needed because those password bits are 0.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758183"/>
            <a:ext cx="347472" cy="347472"/>
          </a:xfrm>
          <a:prstGeom prst="ellipse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753611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3739896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An AND gate combines A, B̅, C and D̅ to detect the exact code.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562855"/>
            <a:ext cx="347472" cy="347472"/>
          </a:xfrm>
          <a:prstGeom prst="ellipse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58283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4544568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When the expression is 1, UNLOCK turns ON; otherwise, LOCK remains 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Truth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Preset code = 1010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08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96926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  <a:gridCol w="2286000"/>
                <a:gridCol w="2286000"/>
              </a:tblGrid>
              <a:tr h="70104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C33"/>
                          </a:solidFill>
                          <a:latin typeface="Aptos"/>
                        </a:defRPr>
                      </a:pPr>
                      <a:r>
                        <a:t>A</a:t>
                      </a:r>
                    </a:p>
                  </a:txBody>
                  <a:tcPr marL="45720" marR="45720"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C33"/>
                          </a:solidFill>
                          <a:latin typeface="Aptos"/>
                        </a:defRPr>
                      </a:pPr>
                      <a:r>
                        <a:t>B</a:t>
                      </a:r>
                    </a:p>
                  </a:txBody>
                  <a:tcPr marL="45720" marR="45720"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C33"/>
                          </a:solidFill>
                          <a:latin typeface="Aptos"/>
                        </a:defRPr>
                      </a:pPr>
                      <a:r>
                        <a:t>C</a:t>
                      </a:r>
                    </a:p>
                  </a:txBody>
                  <a:tcPr marL="45720" marR="45720"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C33"/>
                          </a:solidFill>
                          <a:latin typeface="Aptos"/>
                        </a:defRPr>
                      </a:pPr>
                      <a:r>
                        <a:t>D</a:t>
                      </a:r>
                    </a:p>
                  </a:txBody>
                  <a:tcPr marL="45720" marR="45720"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C33"/>
                          </a:solidFill>
                          <a:latin typeface="Aptos"/>
                        </a:defRPr>
                      </a:pPr>
                      <a:r>
                        <a:t>UNLOCK</a:t>
                      </a:r>
                    </a:p>
                  </a:txBody>
                  <a:tcPr marL="45720" marR="45720"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F1C33"/>
                          </a:solidFill>
                          <a:latin typeface="Aptos"/>
                        </a:defRPr>
                      </a:pPr>
                      <a:r>
                        <a:t>LOCK</a:t>
                      </a:r>
                    </a:p>
                  </a:txBody>
                  <a:tcPr marL="45720" marR="45720" anchor="ctr">
                    <a:solidFill>
                      <a:srgbClr val="2DD4B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anchor="ctr">
                    <a:solidFill>
                      <a:srgbClr val="1839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anchor="ctr">
                    <a:solidFill>
                      <a:srgbClr val="1839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anchor="ctr">
                    <a:solidFill>
                      <a:srgbClr val="1839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anchor="ctr">
                    <a:solidFill>
                      <a:srgbClr val="1839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anchor="ctr">
                    <a:solidFill>
                      <a:srgbClr val="1839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anchor="ctr">
                    <a:solidFill>
                      <a:srgbClr val="18394B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Other combinations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anchor="ctr">
                    <a:solidFill>
                      <a:srgbClr val="182B4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900"/>
              </a:spcAft>
              <a:defRPr sz="1300" b="1">
                <a:solidFill>
                  <a:srgbClr val="BECCDE"/>
                </a:solidFill>
                <a:latin typeface="Aptos"/>
              </a:defRPr>
            </a:pPr>
            <a:r>
              <a:t>1 = ON / HIGH     |     0 = OFF / 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Logic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Boolean expression for the preset code 1010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20640" cy="150876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90472"/>
            <a:ext cx="64008" cy="136245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81912"/>
            <a:ext cx="4754879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2DD4BF"/>
                </a:solidFill>
                <a:latin typeface="Aptos"/>
              </a:defRPr>
            </a:pPr>
            <a:r>
              <a:t>Required 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020824"/>
            <a:ext cx="4736592" cy="79552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000" b="0">
                <a:solidFill>
                  <a:srgbClr val="F5F8FC"/>
                </a:solidFill>
                <a:latin typeface="Aptos"/>
              </a:defRPr>
            </a:pPr>
            <a:r>
              <a:t>A = 1, B = 0, C = 1, D =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17320"/>
            <a:ext cx="5120640" cy="150876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90472"/>
            <a:ext cx="64008" cy="13624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581912"/>
            <a:ext cx="4754879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A78BFA"/>
                </a:solidFill>
                <a:latin typeface="Aptos"/>
              </a:defRPr>
            </a:pPr>
            <a:r>
              <a:t>Boolean expression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020824"/>
            <a:ext cx="4736592" cy="79552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100" b="0">
                <a:solidFill>
                  <a:srgbClr val="F5F8FC"/>
                </a:solidFill>
                <a:latin typeface="Aptos"/>
              </a:defRPr>
            </a:pPr>
            <a:r>
              <a:t>UNLOCK = A · B̅ · C · D̅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5120640" cy="150876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410712"/>
            <a:ext cx="64008" cy="1362456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502152"/>
            <a:ext cx="4754879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67E8F9"/>
                </a:solidFill>
                <a:latin typeface="Aptos"/>
              </a:defRPr>
            </a:pPr>
            <a:r>
              <a:t>Complemented bits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941063"/>
            <a:ext cx="4736592" cy="79552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0">
                <a:solidFill>
                  <a:srgbClr val="F5F8FC"/>
                </a:solidFill>
                <a:latin typeface="Aptos"/>
              </a:defRPr>
            </a:pPr>
            <a:r>
              <a:t>B̅ = NOT B     and     D̅ = NOT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337560"/>
            <a:ext cx="5120640" cy="150876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410712"/>
            <a:ext cx="64008" cy="136245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3502152"/>
            <a:ext cx="4754879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FBBF24"/>
                </a:solidFill>
                <a:latin typeface="Aptos"/>
              </a:defRPr>
            </a:pPr>
            <a:r>
              <a:t>Lock indicator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3941063"/>
            <a:ext cx="4736592" cy="79552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LOCK = NOT(UNLOCK)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349240"/>
            <a:ext cx="10515600" cy="5943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900"/>
              </a:spcAft>
              <a:defRPr sz="1700" b="0">
                <a:solidFill>
                  <a:srgbClr val="BECCDE"/>
                </a:solidFill>
                <a:latin typeface="Aptos"/>
              </a:defRPr>
            </a:pPr>
            <a:r>
              <a:t>The AND output becomes HIGH only when all four required conditions are true.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Simulation /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Build and verify before connecting any physical actuator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166360" cy="420624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99032"/>
            <a:ext cx="64008" cy="405993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90472"/>
            <a:ext cx="480060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2DD4BF"/>
                </a:solidFill>
                <a:latin typeface="Aptos"/>
              </a:defRPr>
            </a:pPr>
            <a:r>
              <a:t>Implementation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29384"/>
            <a:ext cx="4782312" cy="349300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1. Place four input switches.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2. Add NOT gates for B and D.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3. Connect A, B̅, C and D̅ to AND logic.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4. Connect output to UNLOCK LED.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5. Invert UNLOCK for the LOCK 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166360" cy="420624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99032"/>
            <a:ext cx="64008" cy="4059935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490472"/>
            <a:ext cx="480060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A78BFA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929384"/>
            <a:ext cx="4782312" cy="349300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Enter 1010 → UNLOCK = 1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Enter 0000 → UNLOCK = 0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Change any one bit → UNLOCK = 0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Confirm LOCK = NOT(UNLOCK)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Use Logisim Evolution / Digital to simulate.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Advantages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Why this design is useful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44168"/>
            <a:ext cx="347472" cy="347472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39595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325880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Simple and inexpensive logic-circuit demonstration.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148840"/>
            <a:ext cx="347472" cy="347472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44268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130552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No software programming is required for the basic circuit.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53512"/>
            <a:ext cx="347472" cy="347472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48940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2935224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Clearly demonstrates binary inputs, Boolean expressions and gates.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758183"/>
            <a:ext cx="347472" cy="347472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753611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3739896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Easy to simulate and test using different code combinations.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562855"/>
            <a:ext cx="347472" cy="347472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58283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4544568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Can be expanded into a larger digital access-control project.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Important design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344168"/>
            <a:ext cx="347472" cy="347472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39595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325880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A 4-bit code has only 16 possible combinations and is not secure for real use.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148840"/>
            <a:ext cx="347472" cy="347472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44268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130552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The basic circuit does not store failed attempts or limit repeated guesses.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53512"/>
            <a:ext cx="347472" cy="347472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48940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2935224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Power loss and switch glitches may affect a physical prototype.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758183"/>
            <a:ext cx="347472" cy="347472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753611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3739896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Logic-gate outputs cannot directly drive a high-current door lock actuator.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562855"/>
            <a:ext cx="347472" cy="347472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58283"/>
            <a:ext cx="347472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Aft>
                <a:spcPts val="900"/>
              </a:spcAft>
              <a:defRPr sz="1200" b="1">
                <a:solidFill>
                  <a:srgbClr val="0F1C33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4544568"/>
            <a:ext cx="9966960" cy="5669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A practical product needs secure code storage, enclosure, and safety testing.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Applications &amp; Future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Possible extensions beyond the basic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66360" cy="338328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44752"/>
            <a:ext cx="64008" cy="32369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36192"/>
            <a:ext cx="480060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2DD4BF"/>
                </a:solidFill>
                <a:latin typeface="Aptos"/>
              </a:defRPr>
            </a:pPr>
            <a:r>
              <a:t>Applications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4782312" cy="2670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0">
                <a:solidFill>
                  <a:srgbClr val="F5F8FC"/>
                </a:solidFill>
                <a:latin typeface="Aptos"/>
              </a:defRPr>
            </a:pPr>
            <a:r>
              <a:t>• Digital logic laboratory demonstration</a:t>
            </a:r>
          </a:p>
          <a:p>
            <a:pPr algn="l">
              <a:spcAft>
                <a:spcPts val="900"/>
              </a:spcAft>
              <a:defRPr sz="1800" b="0">
                <a:solidFill>
                  <a:srgbClr val="F5F8FC"/>
                </a:solidFill>
                <a:latin typeface="Aptos"/>
              </a:defRPr>
            </a:pPr>
            <a:r>
              <a:t>• Basic access-control prototype</a:t>
            </a:r>
          </a:p>
          <a:p>
            <a:pPr algn="l">
              <a:spcAft>
                <a:spcPts val="900"/>
              </a:spcAft>
              <a:defRPr sz="1800" b="0">
                <a:solidFill>
                  <a:srgbClr val="F5F8FC"/>
                </a:solidFill>
                <a:latin typeface="Aptos"/>
              </a:defRPr>
            </a:pPr>
            <a:r>
              <a:t>• Learning project for Boolean logic</a:t>
            </a:r>
          </a:p>
          <a:p>
            <a:pPr algn="l">
              <a:spcAft>
                <a:spcPts val="900"/>
              </a:spcAft>
              <a:defRPr sz="1800" b="0">
                <a:solidFill>
                  <a:srgbClr val="F5F8FC"/>
                </a:solidFill>
                <a:latin typeface="Aptos"/>
              </a:defRPr>
            </a:pPr>
            <a:r>
              <a:t>• Entry-level embedded hardware concept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166360" cy="338328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44752"/>
            <a:ext cx="64008" cy="32369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536192"/>
            <a:ext cx="480060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A78BFA"/>
                </a:solidFill>
                <a:latin typeface="Aptos"/>
              </a:defRPr>
            </a:pPr>
            <a:r>
              <a:t>Future improvements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975104"/>
            <a:ext cx="4782312" cy="2670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Increase password length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Add a keypad interface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Add a flip-flop/latch for state holding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Add attempt counter and alarm</a:t>
            </a:r>
          </a:p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• Use a protected driver circuit for an actuator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103327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500" b="0">
                <a:solidFill>
                  <a:srgbClr val="BECCDE"/>
                </a:solidFill>
                <a:latin typeface="Aptos"/>
              </a:defRPr>
            </a:pPr>
            <a:r>
              <a:t>Advanced features would introduce sequential logic (Module 3) and additional control design.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A small practical example of digital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561320" cy="132588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536192"/>
            <a:ext cx="64008" cy="1179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1019556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2DD4BF"/>
                </a:solidFill>
                <a:latin typeface="Aptos"/>
              </a:defRPr>
            </a:pPr>
            <a:r>
              <a:t>What was designed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066544"/>
            <a:ext cx="10177272" cy="61264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000" b="0">
                <a:solidFill>
                  <a:srgbClr val="F5F8FC"/>
                </a:solidFill>
                <a:latin typeface="Aptos"/>
              </a:defRPr>
            </a:pPr>
            <a:r>
              <a:t>A logic circuit that recognizes the preset binary password 1010.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80"/>
            <a:ext cx="10561320" cy="132588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227832"/>
            <a:ext cx="64008" cy="1179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19272"/>
            <a:ext cx="1019556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A78BFA"/>
                </a:solidFill>
                <a:latin typeface="Aptos"/>
              </a:defRPr>
            </a:pPr>
            <a:r>
              <a:t>What it demonstrates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758184"/>
            <a:ext cx="10177272" cy="61264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900" b="0">
                <a:solidFill>
                  <a:srgbClr val="F5F8FC"/>
                </a:solidFill>
                <a:latin typeface="Aptos"/>
              </a:defRPr>
            </a:pPr>
            <a:r>
              <a:t>NOT and AND gates, Boolean expressions, truth tables, and combinational circuit testing.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74920"/>
            <a:ext cx="10149840" cy="59436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900"/>
              </a:spcAft>
              <a:defRPr sz="1700" b="1">
                <a:solidFill>
                  <a:srgbClr val="67E8F9"/>
                </a:solidFill>
                <a:latin typeface="Aptos"/>
              </a:defRPr>
            </a:pPr>
            <a:r>
              <a:t>The project connects Module 1 digital foundations with Module 2 combinational logic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881360" cy="53035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2800" b="1">
                <a:solidFill>
                  <a:srgbClr val="F5F8FC"/>
                </a:solidFill>
                <a:latin typeface="Aptos"/>
              </a:defRPr>
            </a:pPr>
            <a:r>
              <a:t>Project Files / GitHub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96112"/>
            <a:ext cx="960120" cy="502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795528"/>
            <a:ext cx="9326880" cy="25603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000" b="0">
                <a:solidFill>
                  <a:srgbClr val="BECCDE"/>
                </a:solidFill>
                <a:latin typeface="Aptos"/>
              </a:defRPr>
            </a:pPr>
            <a:r>
              <a:t>Add your repository URL after uploading your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502920" cy="1828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spcAft>
                <a:spcPts val="900"/>
              </a:spcAft>
              <a:defRPr sz="1000" b="1">
                <a:solidFill>
                  <a:srgbClr val="2DD4BF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10561320" cy="1874519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90472"/>
            <a:ext cx="64008" cy="172821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81912"/>
            <a:ext cx="1019556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2DD4BF"/>
                </a:solidFill>
                <a:latin typeface="Aptos"/>
              </a:defRPr>
            </a:pPr>
            <a:r>
              <a:t>Repository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020824"/>
            <a:ext cx="10177272" cy="116128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0">
                <a:solidFill>
                  <a:srgbClr val="F5F8FC"/>
                </a:solidFill>
                <a:latin typeface="Aptos"/>
              </a:defRPr>
            </a:pPr>
            <a:r>
              <a:t>https://github.com/your-username/digital-door-lock-logic-gates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5120640" cy="164592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730752"/>
            <a:ext cx="64008" cy="149961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822191"/>
            <a:ext cx="4754879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A78BFA"/>
                </a:solidFill>
                <a:latin typeface="Aptos"/>
              </a:defRPr>
            </a:pPr>
            <a:r>
              <a:t>Suggested contents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61104"/>
            <a:ext cx="4736592" cy="9326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PPT, circuit diagram, simulation file, truth table, project report.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657600"/>
            <a:ext cx="5120640" cy="1645920"/>
          </a:xfrm>
          <a:prstGeom prst="roundRect">
            <a:avLst/>
          </a:prstGeom>
          <a:solidFill>
            <a:srgbClr val="182B48"/>
          </a:solidFill>
          <a:ln>
            <a:solidFill>
              <a:srgbClr val="304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730752"/>
            <a:ext cx="64008" cy="1499616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3822191"/>
            <a:ext cx="4754879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800" b="1">
                <a:solidFill>
                  <a:srgbClr val="67E8F9"/>
                </a:solidFill>
                <a:latin typeface="Aptos"/>
              </a:defRPr>
            </a:pPr>
            <a:r>
              <a:t>README should include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4261104"/>
            <a:ext cx="4736592" cy="9326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spcAft>
                <a:spcPts val="900"/>
              </a:spcAft>
              <a:defRPr sz="1600" b="0">
                <a:solidFill>
                  <a:srgbClr val="F5F8FC"/>
                </a:solidFill>
                <a:latin typeface="Aptos"/>
              </a:defRPr>
            </a:pPr>
            <a:r>
              <a:t>Project aim, logic expression, how to simulate, test cases, team contributions.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40680" y="1005840"/>
            <a:ext cx="1325880" cy="1143000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5669280" y="411480"/>
            <a:ext cx="868680" cy="914400"/>
          </a:xfrm>
          <a:prstGeom prst="arc">
            <a:avLst/>
          </a:prstGeom>
          <a:noFill/>
          <a:ln w="63500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07608" y="1344168"/>
            <a:ext cx="182880" cy="182880"/>
          </a:xfrm>
          <a:prstGeom prst="ellipse">
            <a:avLst/>
          </a:prstGeom>
          <a:solidFill>
            <a:srgbClr val="0F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332720" cy="7315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900"/>
              </a:spcAft>
              <a:defRPr sz="3400" b="1">
                <a:solidFill>
                  <a:srgbClr val="F5F8FC"/>
                </a:solidFill>
                <a:latin typeface="Aptos"/>
              </a:defRPr>
            </a:pPr>
            <a: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900"/>
              </a:spcAft>
              <a:defRPr sz="2000" b="0">
                <a:solidFill>
                  <a:srgbClr val="2DD4BF"/>
                </a:solidFill>
                <a:latin typeface="Aptos"/>
              </a:defRPr>
            </a:pPr>
            <a:r>
              <a:t>Questions &amp;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327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spcAft>
                <a:spcPts val="900"/>
              </a:spcAft>
              <a:defRPr sz="1100" b="1">
                <a:solidFill>
                  <a:srgbClr val="BECCDE"/>
                </a:solidFill>
                <a:latin typeface="Aptos"/>
              </a:defRPr>
            </a:pPr>
            <a:r>
              <a:t>DIGITAL DOOR LOCK SYSTEM USING LOGIC GATES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